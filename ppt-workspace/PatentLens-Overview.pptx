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5074920" y="1097280"/>
            <a:ext cx="1737360" cy="173736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152400" dist="50800" dir="16200000">
              <a:srgbClr val="58A6FF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74920" y="10972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PatentLens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专利审查文档获取与梳理工具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多专利局查询 · 审查时间线 · AI 智能梳理 · OCR 文字提取 · 全文翻译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58A6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项目背景与痛点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专利审查历史梳理的现状与挑战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2560320"/>
          </a:xfrm>
          <a:prstGeom prst="rect">
            <a:avLst>
              <a:gd name="adj" fmla="val 357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600200"/>
            <a:ext cx="411480" cy="411480"/>
          </a:xfrm>
          <a:prstGeom prst="ellipse">
            <a:avLst/>
          </a:prstGeom>
          <a:solidFill>
            <a:srgbClr val="F85149"/>
          </a:solidFill>
          <a:ln/>
          <a:effectLst>
            <a:outerShdw sx="100000" sy="100000" kx="0" ky="0" algn="bl" rotWithShape="0" blurRad="38100" dist="12700" dir="162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多平台切换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美/中/欧/日/韩各局系统独立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操作流程各异，效率低下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2560320"/>
          </a:xfrm>
          <a:prstGeom prst="rect">
            <a:avLst>
              <a:gd name="adj" fmla="val 357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600200"/>
            <a:ext cx="411480" cy="411480"/>
          </a:xfrm>
          <a:prstGeom prst="ellipse">
            <a:avLst/>
          </a:prstGeom>
          <a:solidFill>
            <a:srgbClr val="D29922"/>
          </a:solidFill>
          <a:ln/>
          <a:effectLst>
            <a:outerShdw sx="100000" sy="100000" kx="0" ky="0" algn="bl" rotWithShape="0" blurRad="38100" dist="12700" dir="162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4340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格式转换繁琐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6517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不同国家专利号格式不同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手动转换容易出错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560320" cy="2560320"/>
          </a:xfrm>
          <a:prstGeom prst="rect">
            <a:avLst>
              <a:gd name="adj" fmla="val 357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78040" y="1600200"/>
            <a:ext cx="411480" cy="41148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38100" dist="12700" dir="162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7804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审查信息分散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6517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同族专利在不同局的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审查进度需分别查询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371600"/>
            <a:ext cx="2560320" cy="2560320"/>
          </a:xfrm>
          <a:prstGeom prst="rect">
            <a:avLst>
              <a:gd name="adj" fmla="val 357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12680" y="1600200"/>
            <a:ext cx="411480" cy="411480"/>
          </a:xfrm>
          <a:prstGeom prst="ellipse">
            <a:avLst/>
          </a:prstGeom>
          <a:solidFill>
            <a:srgbClr val="BC8CFF"/>
          </a:solidFill>
          <a:ln/>
          <a:effectLst>
            <a:outerShdw sx="100000" sy="100000" kx="0" ky="0" algn="bl" rotWithShape="0" blurRad="38100" dist="12700" dir="162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1268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9828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梳理效率低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98280" y="26517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审查历史文档量大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人工梳理耗时费力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71600" y="4251960"/>
            <a:ext cx="91440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PatentLens 解决方案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2560320" cy="640080"/>
          </a:xfrm>
          <a:prstGeom prst="rect">
            <a:avLst>
              <a:gd name="adj" fmla="val 14286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4709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统一入口查询 US/EP/JP/DE/CN 五局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4709160"/>
            <a:ext cx="2560320" cy="640080"/>
          </a:xfrm>
          <a:prstGeom prst="rect">
            <a:avLst>
              <a:gd name="adj" fmla="val 14286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429000" y="4709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自动识别专利号类型并转换格式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26480" y="4709160"/>
            <a:ext cx="2560320" cy="640080"/>
          </a:xfrm>
          <a:prstGeom prst="rect">
            <a:avLst>
              <a:gd name="adj" fmla="val 14286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63640" y="4709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IP5 同族审查信息一站式展示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961120" y="4709160"/>
            <a:ext cx="2560320" cy="640080"/>
          </a:xfrm>
          <a:prstGeom prst="rect">
            <a:avLst>
              <a:gd name="adj" fmla="val 14286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098280" y="4709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智能梳理审查意见与答复策略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核心功能特性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项核心能力覆盖专利审查全流程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51760" cy="1600200"/>
          </a:xfrm>
          <a:prstGeom prst="rect">
            <a:avLst>
              <a:gd name="adj" fmla="val 5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228600" cy="22860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多专利局查询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US/EP/JP/DE/CN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自动识别专利号类型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1600200"/>
          </a:xfrm>
          <a:prstGeom prst="rect">
            <a:avLst>
              <a:gd name="adj" fmla="val 5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417320"/>
            <a:ext cx="228600" cy="2286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审查文档获取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Dossier API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自动分类归档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51760" cy="1600200"/>
          </a:xfrm>
          <a:prstGeom prst="rect">
            <a:avLst>
              <a:gd name="adj" fmla="val 5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417320"/>
            <a:ext cx="228600" cy="22860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审查时间线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8288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按时间倒序展示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分类标记审查事件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06840" y="1234440"/>
            <a:ext cx="2651760" cy="1600200"/>
          </a:xfrm>
          <a:prstGeom prst="rect">
            <a:avLst>
              <a:gd name="adj" fmla="val 5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0" y="1417320"/>
            <a:ext cx="228600" cy="22860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同族专利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0" y="18288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IP5 五局同族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审查信息展示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2651760" cy="1600200"/>
          </a:xfrm>
          <a:prstGeom prst="rect">
            <a:avLst>
              <a:gd name="adj" fmla="val 5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246120"/>
            <a:ext cx="228600" cy="22860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智能梳理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6576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DeepSeek/GLM/OpenAI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流式生成梳理报告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063240"/>
            <a:ext cx="2651760" cy="1600200"/>
          </a:xfrm>
          <a:prstGeom prst="rect">
            <a:avLst>
              <a:gd name="adj" fmla="val 5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3246120"/>
            <a:ext cx="228600" cy="2286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7" name="Text 25"/>
          <p:cNvSpPr/>
          <p:nvPr/>
        </p:nvSpPr>
        <p:spPr>
          <a:xfrm>
            <a:off x="370332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文字提取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6576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PaddleOCR-VL / GLM OCR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双引擎版面识别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063240"/>
            <a:ext cx="2651760" cy="1600200"/>
          </a:xfrm>
          <a:prstGeom prst="rect">
            <a:avLst>
              <a:gd name="adj" fmla="val 5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3246120"/>
            <a:ext cx="228600" cy="22860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全文翻译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63640" y="36576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独立翻译模型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流式实时显示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06840" y="3063240"/>
            <a:ext cx="2651760" cy="1600200"/>
          </a:xfrm>
          <a:prstGeom prst="rect">
            <a:avLst>
              <a:gd name="adj" fmla="val 5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44000" y="3246120"/>
            <a:ext cx="228600" cy="22860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35" name="Text 33"/>
          <p:cNvSpPr/>
          <p:nvPr/>
        </p:nvSpPr>
        <p:spPr>
          <a:xfrm>
            <a:off x="946404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阅读模式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0" y="36576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沉浸式阅读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翻译/AI 对话面板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892040"/>
            <a:ext cx="2651760" cy="1600200"/>
          </a:xfrm>
          <a:prstGeom prst="rect">
            <a:avLst>
              <a:gd name="adj" fmla="val 5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920" y="5074920"/>
            <a:ext cx="228600" cy="22860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文档对话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5486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基于文档内容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AI 实时对话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46120" y="4892040"/>
            <a:ext cx="2651760" cy="1600200"/>
          </a:xfrm>
          <a:prstGeom prst="rect">
            <a:avLst>
              <a:gd name="adj" fmla="val 5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383280" y="5074920"/>
            <a:ext cx="228600" cy="2286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3" name="Text 41"/>
          <p:cNvSpPr/>
          <p:nvPr/>
        </p:nvSpPr>
        <p:spPr>
          <a:xfrm>
            <a:off x="370332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导出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383280" y="5486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审查报告导出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自动填充概览信息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4892040"/>
            <a:ext cx="2651760" cy="1600200"/>
          </a:xfrm>
          <a:prstGeom prst="rect">
            <a:avLst>
              <a:gd name="adj" fmla="val 5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63640" y="5074920"/>
            <a:ext cx="228600" cy="22860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溯源对照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263640" y="5486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结果溯源原文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点击跳转对照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006840" y="4892040"/>
            <a:ext cx="2651760" cy="1600200"/>
          </a:xfrm>
          <a:prstGeom prst="rect">
            <a:avLst>
              <a:gd name="adj" fmla="val 5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144000" y="5074920"/>
            <a:ext cx="228600" cy="22860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51" name="Text 49"/>
          <p:cNvSpPr/>
          <p:nvPr/>
        </p:nvSpPr>
        <p:spPr>
          <a:xfrm>
            <a:off x="946404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浏览器扩展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144000" y="5486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Chrome 扩展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J-PlatPat/DPMA 跳转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+ Tauri 双框架 · 前后端分离 · 多数据源集成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120640" cy="2560320"/>
          </a:xfrm>
          <a:prstGeom prst="rect">
            <a:avLst>
              <a:gd name="adj" fmla="val 3571"/>
            </a:avLst>
          </a:prstGeom>
          <a:solidFill>
            <a:srgbClr val="0D1F3C"/>
          </a:solidFill>
          <a:ln w="9525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前端层 (HTML / CSS / JS)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50876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看板式管理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web-app.js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828800"/>
            <a:ext cx="150876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67712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服务调用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67712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web-ai.js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840480" y="1828800"/>
            <a:ext cx="150876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13632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文档分类映射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13632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patent-status.js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150876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渲染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pdf.js + Canvas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194560" y="2697480"/>
            <a:ext cx="150876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67712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渲染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67712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marked.js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840480" y="2697480"/>
            <a:ext cx="150876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13632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导出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13632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docx.js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760720" y="1234440"/>
            <a:ext cx="5303520" cy="2560320"/>
          </a:xfrm>
          <a:prstGeom prst="rect">
            <a:avLst>
              <a:gd name="adj" fmla="val 3571"/>
            </a:avLst>
          </a:prstGeom>
          <a:solidFill>
            <a:srgbClr val="1A0D2E"/>
          </a:solidFill>
          <a:ln w="9525">
            <a:solidFill>
              <a:srgbClr val="BC8C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后端层 (Rust / Node.js)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0" y="1828800"/>
            <a:ext cx="155448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16752" y="1874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USPTO API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16752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api/uspto.rs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635240" y="1828800"/>
            <a:ext cx="155448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08392" y="1874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Dossier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08392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api/global_dossier.rs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326880" y="1828800"/>
            <a:ext cx="155448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400032" y="1874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JPO / DPMA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400032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api/jpo.rs / dpma.rs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943600" y="2697480"/>
            <a:ext cx="155448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016752" y="27432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号码转换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16752" y="30632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patent/converter.rs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635240" y="2697480"/>
            <a:ext cx="155448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708392" y="27432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708392" y="30632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parser/office_action.rs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326880" y="2697480"/>
            <a:ext cx="155448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400032" y="27432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缓存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400032" y="30632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cache/sqlite.rs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38912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 / HTTP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069080"/>
            <a:ext cx="10698480" cy="1371600"/>
          </a:xfrm>
          <a:prstGeom prst="rect">
            <a:avLst>
              <a:gd name="adj" fmla="val 6667"/>
            </a:avLst>
          </a:prstGeom>
          <a:solidFill>
            <a:srgbClr val="0D2E1A"/>
          </a:solidFill>
          <a:ln w="9525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 &amp; 外部服务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48640" y="4572000"/>
            <a:ext cx="1920240" cy="685800"/>
          </a:xfrm>
          <a:prstGeom prst="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40080" y="4590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USPTO ODP API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" y="4910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美国专利全量数据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651760" y="4572000"/>
            <a:ext cx="1920240" cy="685800"/>
          </a:xfrm>
          <a:prstGeom prst="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743200" y="4590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Dossier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43200" y="4910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IP5 同族审查信息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54880" y="4572000"/>
            <a:ext cx="1920240" cy="685800"/>
          </a:xfrm>
          <a:prstGeom prst="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846320" y="4590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GLM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46320" y="4910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梳理与对话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858000" y="4572000"/>
            <a:ext cx="1920240" cy="685800"/>
          </a:xfrm>
          <a:prstGeom prst="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949440" y="4590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PaddleOCR-VL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949440" y="4910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 OCR 引擎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961120" y="4572000"/>
            <a:ext cx="1920240" cy="685800"/>
          </a:xfrm>
          <a:prstGeom prst="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9052560" y="45902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 OCR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052560" y="4910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 OCR 引擎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65760" y="5669280"/>
            <a:ext cx="5120640" cy="777240"/>
          </a:xfrm>
          <a:prstGeom prst="rect">
            <a:avLst>
              <a:gd name="adj" fmla="val 11765"/>
            </a:avLst>
          </a:prstGeom>
          <a:solidFill>
            <a:srgbClr val="2A1A0D"/>
          </a:solidFill>
          <a:ln w="9525">
            <a:solidFill>
              <a:srgbClr val="D2992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48640" y="5715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桌面框架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48640" y="6035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(当前)  /  Tauri v2 (备选)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760720" y="5669280"/>
            <a:ext cx="5303520" cy="777240"/>
          </a:xfrm>
          <a:prstGeom prst="rect">
            <a:avLst>
              <a:gd name="adj" fmla="val 11765"/>
            </a:avLst>
          </a:prstGeom>
          <a:solidFill>
            <a:srgbClr val="1A0D2E"/>
          </a:solidFill>
          <a:ln w="9525">
            <a:solidFill>
              <a:srgbClr val="BC8C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5943600" y="5715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943600" y="60350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(.docx)  /  PDF  /  Markdown  /  翻译对照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从专利号输入到审查报告导出的完整链路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691640" cy="2926080"/>
          </a:xfrm>
          <a:prstGeom prst="rect">
            <a:avLst>
              <a:gd name="adj" fmla="val 54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54480"/>
            <a:ext cx="594360" cy="59436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50800" dist="127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输入专利号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US/EP/JP/DE/CN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专利号，系统自动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识别专利局与类型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</a:rPr>
              <a:t>&gt;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94560" y="1371600"/>
            <a:ext cx="1691640" cy="2926080"/>
          </a:xfrm>
          <a:prstGeom prst="rect">
            <a:avLst>
              <a:gd name="adj" fmla="val 54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1554480"/>
            <a:ext cx="594360" cy="594360"/>
          </a:xfrm>
          <a:prstGeom prst="ellipse">
            <a:avLst/>
          </a:prstGeom>
          <a:solidFill>
            <a:srgbClr val="3FB950"/>
          </a:solidFill>
          <a:ln/>
          <a:effectLst>
            <a:outerShdw sx="100000" sy="100000" kx="0" ky="0" algn="bl" rotWithShape="0" blurRad="50800" dist="127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23317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获取审查数据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7889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USPTO / Global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Dossier API，获取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审查历史与文档列表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8620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</a:rPr>
              <a:t>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69080" y="1371600"/>
            <a:ext cx="1691640" cy="2926080"/>
          </a:xfrm>
          <a:prstGeom prst="rect">
            <a:avLst>
              <a:gd name="adj" fmla="val 54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554480"/>
            <a:ext cx="594360" cy="594360"/>
          </a:xfrm>
          <a:prstGeom prst="ellipse">
            <a:avLst/>
          </a:prstGeom>
          <a:solidFill>
            <a:srgbClr val="D29922"/>
          </a:solidFill>
          <a:ln/>
          <a:effectLst>
            <a:outerShdw sx="100000" sy="100000" kx="0" ky="0" algn="bl" rotWithShape="0" blurRad="50800" dist="127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60520" y="23317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时间线展示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60520" y="27889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按时间倒序展示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审查事件，自动分类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标记文档类型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6072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</a:rPr>
              <a:t>&gt;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43600" y="1371600"/>
            <a:ext cx="1691640" cy="2926080"/>
          </a:xfrm>
          <a:prstGeom prst="rect">
            <a:avLst>
              <a:gd name="adj" fmla="val 54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1554480"/>
            <a:ext cx="594360" cy="594360"/>
          </a:xfrm>
          <a:prstGeom prst="ellipse">
            <a:avLst/>
          </a:prstGeom>
          <a:solidFill>
            <a:srgbClr val="BC8CFF"/>
          </a:solidFill>
          <a:ln/>
          <a:effectLst>
            <a:outerShdw sx="100000" sy="100000" kx="0" ky="0" algn="bl" rotWithShape="0" blurRad="50800" dist="127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0" y="23317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文字提取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27889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PaddleOCR-VL 或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 OCR 引擎提取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文档文字内容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63524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</a:rPr>
              <a:t>&gt;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818120" y="1371600"/>
            <a:ext cx="1691640" cy="2926080"/>
          </a:xfrm>
          <a:prstGeom prst="rect">
            <a:avLst>
              <a:gd name="adj" fmla="val 54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1554480"/>
            <a:ext cx="594360" cy="594360"/>
          </a:xfrm>
          <a:prstGeom prst="ellipse">
            <a:avLst/>
          </a:prstGeom>
          <a:solidFill>
            <a:srgbClr val="58A6FF"/>
          </a:solidFill>
          <a:ln/>
          <a:effectLst>
            <a:outerShdw sx="100000" sy="100000" kx="0" ky="0" algn="bl" rotWithShape="0" blurRad="50800" dist="12700" dir="162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6676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09560" y="23317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智能梳理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09560" y="27889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GLM /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流式生成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审查意见梳理报告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50976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</a:rPr>
              <a:t>&gt;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692640" y="1371600"/>
            <a:ext cx="1691640" cy="2926080"/>
          </a:xfrm>
          <a:prstGeom prst="rect">
            <a:avLst>
              <a:gd name="adj" fmla="val 54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241280" y="1554480"/>
            <a:ext cx="594360" cy="594360"/>
          </a:xfrm>
          <a:prstGeom prst="ellipse">
            <a:avLst/>
          </a:prstGeom>
          <a:solidFill>
            <a:srgbClr val="3FB950"/>
          </a:solidFill>
          <a:ln/>
          <a:effectLst>
            <a:outerShdw sx="100000" sy="100000" kx="0" ky="0" algn="bl" rotWithShape="0" blurRad="50800" dist="12700" dir="162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24128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784080" y="233172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溯源与导出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784080" y="278892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结果溯源原文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对照阅读，导出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/ 翻译报告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并行能力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983480"/>
            <a:ext cx="2560320" cy="822960"/>
          </a:xfrm>
          <a:prstGeom prst="rect">
            <a:avLst>
              <a:gd name="adj" fmla="val 11111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94360" y="5010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全文翻译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" y="5330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独立翻译模型，流式实时显示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46120" y="4983480"/>
            <a:ext cx="2560320" cy="822960"/>
          </a:xfrm>
          <a:prstGeom prst="rect">
            <a:avLst>
              <a:gd name="adj" fmla="val 11111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383280" y="5010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文档对话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383280" y="5330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基于当前文档与 AI 实时对话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35040" y="4983480"/>
            <a:ext cx="2560320" cy="822960"/>
          </a:xfrm>
          <a:prstGeom prst="rect">
            <a:avLst>
              <a:gd name="adj" fmla="val 11111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172200" y="5010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同族专利查询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172200" y="5330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IP5 五局同族审查信息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823960" y="4983480"/>
            <a:ext cx="2560320" cy="822960"/>
          </a:xfrm>
          <a:prstGeom prst="rect">
            <a:avLst>
              <a:gd name="adj" fmla="val 11111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961120" y="50109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浏览器扩展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961120" y="5330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J-PlatPat / DPMA 一键跳转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文档智能分类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自动识别审查文档类型，颜色标记一目了然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42416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109728" cy="731520"/>
          </a:xfrm>
          <a:prstGeom prst="rect">
            <a:avLst>
              <a:gd name="adj" fmla="val 50000"/>
            </a:avLst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审查意见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驳回、限制性要求等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17520" y="1417320"/>
            <a:ext cx="2286000" cy="457200"/>
          </a:xfrm>
          <a:prstGeom prst="rect">
            <a:avLst>
              <a:gd name="adj" fmla="val 20000"/>
            </a:avLst>
          </a:prstGeom>
          <a:solidFill>
            <a:srgbClr val="1C2333"/>
          </a:solidFill>
          <a:ln w="9525">
            <a:solidFill>
              <a:srgbClr val="F85149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CTNF / CTF / REST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1463040"/>
            <a:ext cx="365760" cy="36576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325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US/EP/JP/DE/CN 五局文档代码映射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63640" y="1645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US / EP / JP / DE / CN 五局文档代码自动映射与分类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1042416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48840"/>
            <a:ext cx="109728" cy="731520"/>
          </a:xfrm>
          <a:prstGeom prst="rect">
            <a:avLst>
              <a:gd name="adj" fmla="val 50000"/>
            </a:avLst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申请人答复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修改、意见陈述等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17520" y="2286000"/>
            <a:ext cx="2286000" cy="457200"/>
          </a:xfrm>
          <a:prstGeom prst="rect">
            <a:avLst>
              <a:gd name="adj" fmla="val 20000"/>
            </a:avLst>
          </a:prstGeom>
          <a:solidFill>
            <a:srgbClr val="1C2333"/>
          </a:solidFill>
          <a:ln w="9525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175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/ AMDT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2331720"/>
            <a:ext cx="365760" cy="3657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194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自动识别答复类型与修改内容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2514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US / EP / JP / DE / CN 五局文档代码自动映射与分类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1042416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17520"/>
            <a:ext cx="109728" cy="731520"/>
          </a:xfrm>
          <a:prstGeom prst="rect">
            <a:avLst>
              <a:gd name="adj" fmla="val 50000"/>
            </a:avLst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授权通知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授权通知、授权决定等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17520" y="3154680"/>
            <a:ext cx="2286000" cy="457200"/>
          </a:xfrm>
          <a:prstGeom prst="rect">
            <a:avLst>
              <a:gd name="adj" fmla="val 20000"/>
            </a:avLst>
          </a:prstGeom>
          <a:solidFill>
            <a:srgbClr val="1C2333"/>
          </a:solidFill>
          <a:ln w="9525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017520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NTCE / WDEC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320040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063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授权/注册通知自动标记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3383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US / EP / JP / DE / CN 五局文档代码自动映射与分类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3886200"/>
            <a:ext cx="1042416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886200"/>
            <a:ext cx="109728" cy="731520"/>
          </a:xfrm>
          <a:prstGeom prst="rect">
            <a:avLst>
              <a:gd name="adj" fmla="val 50000"/>
            </a:avLst>
          </a:prstGeom>
          <a:solidFill>
            <a:srgbClr val="D29922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申请人请求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4251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RCE、审查请求等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17520" y="4023360"/>
            <a:ext cx="2286000" cy="457200"/>
          </a:xfrm>
          <a:prstGeom prst="rect">
            <a:avLst>
              <a:gd name="adj" fmla="val 20000"/>
            </a:avLst>
          </a:prstGeom>
          <a:solidFill>
            <a:srgbClr val="1C2333"/>
          </a:solidFill>
          <a:ln w="9525">
            <a:solidFill>
              <a:srgbClr val="D2992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01752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RCE / EX.RQ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0" y="4069080"/>
            <a:ext cx="365760" cy="36576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39" name="Text 37"/>
          <p:cNvSpPr/>
          <p:nvPr/>
        </p:nvSpPr>
        <p:spPr>
          <a:xfrm>
            <a:off x="6263640" y="3931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RCE 等请求自动归类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63640" y="4251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US / EP / JP / DE / CN 五局文档代码自动映射与分类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4754880"/>
            <a:ext cx="1042416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4754880"/>
            <a:ext cx="109728" cy="731520"/>
          </a:xfrm>
          <a:prstGeom prst="rect">
            <a:avLst>
              <a:gd name="adj" fmla="val 50000"/>
            </a:avLst>
          </a:prstGeom>
          <a:solidFill>
            <a:srgbClr val="8B949E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5120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官方通知类文件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017520" y="4892040"/>
            <a:ext cx="2286000" cy="457200"/>
          </a:xfrm>
          <a:prstGeom prst="rect">
            <a:avLst>
              <a:gd name="adj" fmla="val 20000"/>
            </a:avLst>
          </a:prstGeom>
          <a:solidFill>
            <a:srgbClr val="1C2333"/>
          </a:solidFill>
          <a:ln w="9525">
            <a:solidFill>
              <a:srgbClr val="8B949E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01752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CTFR / EX.Q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0" y="4937760"/>
            <a:ext cx="365760" cy="365760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4800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官方通知与审查意见区分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63640" y="5120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US / EP / JP / DE / CN 五局文档代码自动映射与分类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" y="5623560"/>
            <a:ext cx="10424160" cy="731520"/>
          </a:xfrm>
          <a:prstGeom prst="rect">
            <a:avLst>
              <a:gd name="adj" fmla="val 1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57200" y="5623560"/>
            <a:ext cx="109728" cy="731520"/>
          </a:xfrm>
          <a:prstGeom prst="rect">
            <a:avLst>
              <a:gd name="adj" fmla="val 50000"/>
            </a:avLst>
          </a:prstGeom>
          <a:solidFill>
            <a:srgbClr val="6E7681"/>
          </a:solidFill>
          <a:ln/>
        </p:spPr>
      </p:sp>
      <p:sp>
        <p:nvSpPr>
          <p:cNvPr id="52" name="Text 50"/>
          <p:cNvSpPr/>
          <p:nvPr/>
        </p:nvSpPr>
        <p:spPr>
          <a:xfrm>
            <a:off x="777240" y="5669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76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其他文件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77240" y="5989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说明书、权利要求等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017520" y="5760720"/>
            <a:ext cx="2286000" cy="457200"/>
          </a:xfrm>
          <a:prstGeom prst="rect">
            <a:avLst>
              <a:gd name="adj" fmla="val 20000"/>
            </a:avLst>
          </a:prstGeom>
          <a:solidFill>
            <a:srgbClr val="1C2333"/>
          </a:solidFill>
          <a:ln w="9525">
            <a:solidFill>
              <a:srgbClr val="6E768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017520" y="5760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/ CLMS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669280" y="5806440"/>
            <a:ext cx="365760" cy="365760"/>
          </a:xfrm>
          <a:prstGeom prst="ellipse">
            <a:avLst/>
          </a:prstGeom>
          <a:solidFill>
            <a:srgbClr val="6E7681"/>
          </a:solidFill>
          <a:ln/>
        </p:spPr>
      </p:sp>
      <p:sp>
        <p:nvSpPr>
          <p:cNvPr id="57" name="Text 55"/>
          <p:cNvSpPr/>
          <p:nvPr/>
        </p:nvSpPr>
        <p:spPr>
          <a:xfrm>
            <a:off x="6263640" y="5669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说明书等非审查文档归类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263640" y="5989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US / EP / JP / DE / CN 五局文档代码自动映射与分类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 OCR 能力矩阵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多引擎支持 · 灵活配置 · 流式响应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303520" cy="274320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智能梳理服务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937760" cy="594360"/>
          </a:xfrm>
          <a:prstGeom prst="rect">
            <a:avLst>
              <a:gd name="adj" fmla="val 15385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8562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305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分析: deepseek-chat  |  翻译: deepseek-v4-flash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api.deepseek.com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4937760" cy="594360"/>
          </a:xfrm>
          <a:prstGeom prst="rect">
            <a:avLst>
              <a:gd name="adj" fmla="val 15385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542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 AI (GLM)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8163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分析: glm-4-plus  |  翻译: glm-4-flash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0" y="25603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open.bigmodel.cn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4937760" cy="594360"/>
          </a:xfrm>
          <a:prstGeom prst="rect">
            <a:avLst>
              <a:gd name="adj" fmla="val 15385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2278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5021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分析: gpt-4o  |  翻译: gpt-4o-mini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0" y="32461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可自定义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流式响应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2880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自定义提示词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0896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溯源对照阅读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8912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文档对话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43600" y="1234440"/>
            <a:ext cx="5120640" cy="274320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1325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文字提取引擎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1874520"/>
            <a:ext cx="4754880" cy="868680"/>
          </a:xfrm>
          <a:prstGeom prst="rect">
            <a:avLst>
              <a:gd name="adj" fmla="val 10526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6364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PaddleOCR-VL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6364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免费，无需 API Key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版面识别与文字提取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418320" y="2011680"/>
            <a:ext cx="1280160" cy="320040"/>
          </a:xfrm>
          <a:prstGeom prst="rect">
            <a:avLst>
              <a:gd name="adj" fmla="val 28571"/>
            </a:avLst>
          </a:prstGeom>
          <a:solidFill>
            <a:srgbClr val="3FB950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418320" y="2011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2880360"/>
            <a:ext cx="4754880" cy="868680"/>
          </a:xfrm>
          <a:prstGeom prst="rect">
            <a:avLst>
              <a:gd name="adj" fmla="val 10526"/>
            </a:avLst>
          </a:prstGeom>
          <a:solidFill>
            <a:srgbClr val="1C2333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6364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 OCR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需智谱 API Key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识别精度更高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418320" y="3017520"/>
            <a:ext cx="1280160" cy="320040"/>
          </a:xfrm>
          <a:prstGeom prst="rect">
            <a:avLst>
              <a:gd name="adj" fmla="val 28571"/>
            </a:avLst>
          </a:prstGeom>
          <a:solidFill>
            <a:srgbClr val="D299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418320" y="3017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高精度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噪音符号清理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0664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版面识别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68680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自动段落还原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96696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 API 调用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" y="4297680"/>
            <a:ext cx="10698480" cy="1097280"/>
          </a:xfrm>
          <a:prstGeom prst="rect">
            <a:avLst>
              <a:gd name="adj" fmla="val 8333"/>
            </a:avLst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864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全文翻译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" y="475488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独立翻译模型配置（可与 AI 分析模型不同）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52160" y="475488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全文合并翻译，不分页不分块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5029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流式实时显示翻译结果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52160" y="5029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翻译对照阅读模式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PatentLens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专利审查文档获取与梳理工具 — 项目总览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2468880" cy="1463040"/>
          </a:xfrm>
          <a:prstGeom prst="rect">
            <a:avLst>
              <a:gd name="adj" fmla="val 625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560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支持专利局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 / EP / JP / DE / CN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2468880"/>
            <a:ext cx="2468880" cy="1463040"/>
          </a:xfrm>
          <a:prstGeom prst="rect">
            <a:avLst>
              <a:gd name="adj" fmla="val 625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560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 / 获取 / 梳理 / 翻译 / 导出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2468880"/>
            <a:ext cx="2468880" cy="1463040"/>
          </a:xfrm>
          <a:prstGeom prst="rect">
            <a:avLst>
              <a:gd name="adj" fmla="val 625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560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服务商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GLM / OpenAI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61120" y="2468880"/>
            <a:ext cx="2468880" cy="1463040"/>
          </a:xfrm>
          <a:prstGeom prst="rect">
            <a:avLst>
              <a:gd name="adj" fmla="val 625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0" y="25603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96112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 引擎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PaddleOCR-VL / GLM OCR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251960"/>
            <a:ext cx="10058400" cy="1645920"/>
          </a:xfrm>
          <a:prstGeom prst="rect">
            <a:avLst>
              <a:gd name="adj" fmla="val 5556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754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多专利局审查信息一站式查询，告别多平台切换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52160" y="4754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智能梳理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自动提取审查意见要点，生成结构化梳理报告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5257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精准溯源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5257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分析结果可溯源至原文位置，点击跳转对照阅读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5257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灵活配置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5257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AI/OCR 引擎可选，独立翻译模型，自定义提示词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58A6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PatentLens 项目概览</dc:title>
  <dc:subject>PptxGenJS Presentation</dc:subject>
  <dc:creator>PatentLens</dc:creator>
  <cp:lastModifiedBy>PatentLens</cp:lastModifiedBy>
  <cp:revision>1</cp:revision>
  <dcterms:created xsi:type="dcterms:W3CDTF">2026-06-21T14:29:57Z</dcterms:created>
  <dcterms:modified xsi:type="dcterms:W3CDTF">2026-06-21T14:29:57Z</dcterms:modified>
</cp:coreProperties>
</file>